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164" d="100"/>
          <a:sy n="164" d="100"/>
        </p:scale>
        <p:origin x="144" y="-1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slide to explain method, not results. Start with direct horizons, then the required model families. For features, emphasize target-hour calendar/weather and BikeCount lags. Clarify that target-hour weather is an assumption, while BikeCount remains leakage-safe. Validation is rolling-origin CV; the 61-day holdout is only a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this as a funnel, not as unrelated XGBoost rows. We first compared naive baselines and required model families. XGBoost won the initial comparison, so we checked variants. Rolling-origin CV selects XGBoost tuned for +1h and +24h; log1p won the recent holdout but was noisier across the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282DCA4-A682-4D99-9238-9EE0B2C961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endParaRPr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D5F84356-7333-470C-B037-16128CA12F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1B7A1C82-9AB8-4368-89B4-97D1831273D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00A4FCD-8EB6-45D1-B536-6418DF55471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0ECF421-98D8-466C-A4A9-37C9CBAACE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7C2C053-82A8-4DFE-A276-527C2B6653A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40201" y="533400"/>
            <a:ext cx="1996248" cy="552450"/>
          </a:xfrm>
          <a:prstGeom prst="rect">
            <a:avLst/>
          </a:prstGeom>
        </p:spPr>
      </p:pic>
      <p:pic>
        <p:nvPicPr>
          <p:cNvPr id="3" name="Grafik 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791700" y="460356"/>
            <a:ext cx="1619250" cy="946188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AD27BF78-F996-4A18-9B58-0263D350C0E6}"/>
              </a:ext>
            </a:extLst>
          </p:cNvPr>
          <p:cNvSpPr>
            <a:spLocks noGrp="1"/>
          </p:cNvSpPr>
          <p:nvPr/>
        </p:nvSpPr>
        <p:spPr>
          <a:xfrm>
            <a:off x="838200" y="1314450"/>
            <a:ext cx="74295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5E5E5D"/>
                </a:solidFill>
              </a:defRPr>
            </a:pPr>
            <a:r>
              <a:rPr sz="1125" b="1">
                <a:solidFill>
                  <a:srgbClr val="5E5E5D"/>
                </a:solidFill>
              </a:rPr>
              <a:t>Approach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5CFAC11-4841-4EC3-B40C-B51435BD6C86}"/>
              </a:ext>
            </a:extLst>
          </p:cNvPr>
          <p:cNvSpPr>
            <a:spLocks noGrp="1"/>
          </p:cNvSpPr>
          <p:nvPr/>
        </p:nvSpPr>
        <p:spPr>
          <a:xfrm>
            <a:off x="476250" y="6305550"/>
            <a:ext cx="11315700" cy="19050"/>
          </a:xfrm>
          <a:prstGeom prst="rect">
            <a:avLst/>
          </a:prstGeom>
          <a:solidFill>
            <a:srgbClr val="91083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7B96FE7B-6B61-4E14-A743-D6AFA5A4EF26}"/>
              </a:ext>
            </a:extLst>
          </p:cNvPr>
          <p:cNvSpPr>
            <a:spLocks noGrp="1"/>
          </p:cNvSpPr>
          <p:nvPr/>
        </p:nvSpPr>
        <p:spPr>
          <a:xfrm>
            <a:off x="476250" y="6438900"/>
            <a:ext cx="4953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5E5E5D"/>
                </a:solidFill>
              </a:defRPr>
            </a:pPr>
            <a:r>
              <a:rPr sz="1050" b="1">
                <a:solidFill>
                  <a:srgbClr val="5E5E5D"/>
                </a:solidFill>
              </a:rPr>
              <a:t>Group 18 | Bike Count Estimation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C2F0B9D-C8D3-4E2F-9414-820DA1A17F80}"/>
              </a:ext>
            </a:extLst>
          </p:cNvPr>
          <p:cNvSpPr>
            <a:spLocks noGrp="1"/>
          </p:cNvSpPr>
          <p:nvPr/>
        </p:nvSpPr>
        <p:spPr>
          <a:xfrm>
            <a:off x="10668000" y="6438900"/>
            <a:ext cx="11239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5E5E5D"/>
                </a:solidFill>
              </a:defRPr>
            </a:pPr>
            <a:r>
              <a:rPr sz="1050" b="1">
                <a:solidFill>
                  <a:srgbClr val="5E5E5D"/>
                </a:solidFill>
              </a:rPr>
              <a:t>1 / 2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7C4A689E-2464-4BA0-92D1-B09BCC39D72C}"/>
              </a:ext>
            </a:extLst>
          </p:cNvPr>
          <p:cNvSpPr>
            <a:spLocks noGrp="1"/>
          </p:cNvSpPr>
          <p:nvPr/>
        </p:nvSpPr>
        <p:spPr>
          <a:xfrm>
            <a:off x="838200" y="1695450"/>
            <a:ext cx="97155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250" b="1">
                <a:solidFill>
                  <a:srgbClr val="910830"/>
                </a:solidFill>
              </a:defRPr>
            </a:pPr>
            <a:r>
              <a:rPr sz="2250" b="1">
                <a:solidFill>
                  <a:srgbClr val="910830"/>
                </a:solidFill>
              </a:rPr>
              <a:t>Approach: leakage-safe direct forecasts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1D57C0E-CB70-4779-90C2-DFC27178321F}"/>
              </a:ext>
            </a:extLst>
          </p:cNvPr>
          <p:cNvSpPr>
            <a:spLocks noGrp="1"/>
          </p:cNvSpPr>
          <p:nvPr/>
        </p:nvSpPr>
        <p:spPr>
          <a:xfrm>
            <a:off x="857250" y="2266950"/>
            <a:ext cx="9906000" cy="3619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5E5D"/>
                </a:solidFill>
              </a:defRPr>
            </a:pPr>
            <a:r>
              <a:rPr sz="1200" b="0">
                <a:solidFill>
                  <a:srgbClr val="5E5E5D"/>
                </a:solidFill>
              </a:rPr>
              <a:t>We frame the challenge as tabular time-series regression, compare the required model families, and select models with rolling-origin CV.</a:t>
            </a:r>
          </a:p>
        </p:txBody>
      </p:sp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D96639A9-E168-42EF-84FE-2BEDEEED5556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3143250" cy="11811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6F3BCBA-FFFC-47F3-8DF7-330E0A4DB22F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76200" cy="1181100"/>
          </a:xfrm>
          <a:prstGeom prst="rect">
            <a:avLst/>
          </a:prstGeom>
          <a:solidFill>
            <a:srgbClr val="91083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DF96427-C1D1-4037-A451-2A8312A14DDD}"/>
              </a:ext>
            </a:extLst>
          </p:cNvPr>
          <p:cNvSpPr>
            <a:spLocks noGrp="1"/>
          </p:cNvSpPr>
          <p:nvPr/>
        </p:nvSpPr>
        <p:spPr>
          <a:xfrm>
            <a:off x="1047750" y="2933700"/>
            <a:ext cx="323850" cy="3429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500" b="1">
                <a:solidFill>
                  <a:srgbClr val="910830"/>
                </a:solidFill>
              </a:defRPr>
            </a:pPr>
            <a:r>
              <a:rPr sz="1500" b="1">
                <a:solidFill>
                  <a:srgbClr val="910830"/>
                </a:solidFill>
              </a:rPr>
              <a:t>1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FC82CD3-3B9D-449A-8F4C-D532DE031D24}"/>
              </a:ext>
            </a:extLst>
          </p:cNvPr>
          <p:cNvSpPr>
            <a:spLocks noGrp="1"/>
          </p:cNvSpPr>
          <p:nvPr/>
        </p:nvSpPr>
        <p:spPr>
          <a:xfrm>
            <a:off x="1485900" y="2914650"/>
            <a:ext cx="2324100" cy="3048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52B"/>
                </a:solidFill>
              </a:defRPr>
            </a:pPr>
            <a:r>
              <a:rPr sz="1350" b="1">
                <a:solidFill>
                  <a:srgbClr val="1F252B"/>
                </a:solidFill>
              </a:rPr>
              <a:t>Direct forecast targets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106F744-ED4A-4207-8AD2-EF505BECE60F}"/>
              </a:ext>
            </a:extLst>
          </p:cNvPr>
          <p:cNvSpPr>
            <a:spLocks noGrp="1"/>
          </p:cNvSpPr>
          <p:nvPr/>
        </p:nvSpPr>
        <p:spPr>
          <a:xfrm>
            <a:off x="1485900" y="3257550"/>
            <a:ext cx="22479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E5E5D"/>
                </a:solidFill>
              </a:defRPr>
            </a:pPr>
            <a:r>
              <a:rPr sz="975" b="0">
                <a:solidFill>
                  <a:srgbClr val="5E5E5D"/>
                </a:solidFill>
              </a:rPr>
              <a:t>For horizon h, target = BikeCount(t+h). We evaluate one-hour and next-day hourly forecasts.</a:t>
            </a:r>
          </a:p>
        </p:txBody>
      </p:sp>
      <p:sp>
        <p:nvSpPr>
          <p:cNvPr id="15" name="Abgerundetes Rechteck 14">
            <a:extLst>
              <a:ext uri="{FF2B5EF4-FFF2-40B4-BE49-F238E27FC236}">
                <a16:creationId xmlns:a16="http://schemas.microsoft.com/office/drawing/2014/main" id="{7D5ABEAE-8B37-457F-9EE3-7CD43A40BBE2}"/>
              </a:ext>
            </a:extLst>
          </p:cNvPr>
          <p:cNvSpPr>
            <a:spLocks noGrp="1"/>
          </p:cNvSpPr>
          <p:nvPr/>
        </p:nvSpPr>
        <p:spPr>
          <a:xfrm>
            <a:off x="4305300" y="2724150"/>
            <a:ext cx="3143250" cy="11811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BAFA6735-9F34-4CB2-8955-6E349F9E1736}"/>
              </a:ext>
            </a:extLst>
          </p:cNvPr>
          <p:cNvSpPr>
            <a:spLocks noGrp="1"/>
          </p:cNvSpPr>
          <p:nvPr/>
        </p:nvSpPr>
        <p:spPr>
          <a:xfrm>
            <a:off x="4305300" y="2724150"/>
            <a:ext cx="76200" cy="1181100"/>
          </a:xfrm>
          <a:prstGeom prst="rect">
            <a:avLst/>
          </a:prstGeom>
          <a:solidFill>
            <a:srgbClr val="14316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D2C20C1F-E929-4DA1-AA57-96BDC2B90D5C}"/>
              </a:ext>
            </a:extLst>
          </p:cNvPr>
          <p:cNvSpPr>
            <a:spLocks noGrp="1"/>
          </p:cNvSpPr>
          <p:nvPr/>
        </p:nvSpPr>
        <p:spPr>
          <a:xfrm>
            <a:off x="4514850" y="2933700"/>
            <a:ext cx="323850" cy="3429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500" b="1">
                <a:solidFill>
                  <a:srgbClr val="143164"/>
                </a:solidFill>
              </a:defRPr>
            </a:pPr>
            <a:r>
              <a:rPr sz="1500" b="1">
                <a:solidFill>
                  <a:srgbClr val="143164"/>
                </a:solidFill>
              </a:rPr>
              <a:t>2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2C1D7A95-DAF2-44F2-AB2A-51A230EC4DEB}"/>
              </a:ext>
            </a:extLst>
          </p:cNvPr>
          <p:cNvSpPr>
            <a:spLocks noGrp="1"/>
          </p:cNvSpPr>
          <p:nvPr/>
        </p:nvSpPr>
        <p:spPr>
          <a:xfrm>
            <a:off x="4953000" y="2914650"/>
            <a:ext cx="2324100" cy="3048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52B"/>
                </a:solidFill>
              </a:defRPr>
            </a:pPr>
            <a:r>
              <a:rPr sz="1350" b="1">
                <a:solidFill>
                  <a:srgbClr val="1F252B"/>
                </a:solidFill>
              </a:rPr>
              <a:t>Required model families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4415DB54-4B2F-4CB1-BDDF-E5C404D8501F}"/>
              </a:ext>
            </a:extLst>
          </p:cNvPr>
          <p:cNvSpPr>
            <a:spLocks noGrp="1"/>
          </p:cNvSpPr>
          <p:nvPr/>
        </p:nvSpPr>
        <p:spPr>
          <a:xfrm>
            <a:off x="4953000" y="3257550"/>
            <a:ext cx="22479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E5E5D"/>
                </a:solidFill>
              </a:defRPr>
            </a:pPr>
            <a:r>
              <a:rPr sz="975" b="0">
                <a:solidFill>
                  <a:srgbClr val="5E5E5D"/>
                </a:solidFill>
              </a:rPr>
              <a:t>Ridge covers linear regression, RandomForest / XGBoost cover tree-based models, and MLP covers neural networks.</a:t>
            </a:r>
          </a:p>
        </p:txBody>
      </p:sp>
      <p:sp>
        <p:nvSpPr>
          <p:cNvPr id="20" name="Abgerundetes Rechteck 19">
            <a:extLst>
              <a:ext uri="{FF2B5EF4-FFF2-40B4-BE49-F238E27FC236}">
                <a16:creationId xmlns:a16="http://schemas.microsoft.com/office/drawing/2014/main" id="{D6CBDC3D-27A3-4E2C-A825-7C533A7C665F}"/>
              </a:ext>
            </a:extLst>
          </p:cNvPr>
          <p:cNvSpPr>
            <a:spLocks noGrp="1"/>
          </p:cNvSpPr>
          <p:nvPr/>
        </p:nvSpPr>
        <p:spPr>
          <a:xfrm>
            <a:off x="7772400" y="2724150"/>
            <a:ext cx="3143250" cy="11811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1430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6F4EAA2-4E56-4F24-9AB4-65BE1EA387D6}"/>
              </a:ext>
            </a:extLst>
          </p:cNvPr>
          <p:cNvSpPr>
            <a:spLocks noGrp="1"/>
          </p:cNvSpPr>
          <p:nvPr/>
        </p:nvSpPr>
        <p:spPr>
          <a:xfrm>
            <a:off x="7772400" y="2724150"/>
            <a:ext cx="76200" cy="1181100"/>
          </a:xfrm>
          <a:prstGeom prst="rect">
            <a:avLst/>
          </a:prstGeom>
          <a:solidFill>
            <a:srgbClr val="87BF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0F9AC5A-26D8-49CE-888E-B88814C0DC3B}"/>
              </a:ext>
            </a:extLst>
          </p:cNvPr>
          <p:cNvSpPr>
            <a:spLocks noGrp="1"/>
          </p:cNvSpPr>
          <p:nvPr/>
        </p:nvSpPr>
        <p:spPr>
          <a:xfrm>
            <a:off x="7981950" y="2933700"/>
            <a:ext cx="323850" cy="3429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500" b="1">
                <a:solidFill>
                  <a:srgbClr val="87BF2A"/>
                </a:solidFill>
              </a:defRPr>
            </a:pPr>
            <a:r>
              <a:rPr sz="1500" b="1">
                <a:solidFill>
                  <a:srgbClr val="87BF2A"/>
                </a:solidFill>
              </a:rPr>
              <a:t>3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FA07AC30-B5EB-40E1-AB17-616BF64980B7}"/>
              </a:ext>
            </a:extLst>
          </p:cNvPr>
          <p:cNvSpPr>
            <a:spLocks noGrp="1"/>
          </p:cNvSpPr>
          <p:nvPr/>
        </p:nvSpPr>
        <p:spPr>
          <a:xfrm>
            <a:off x="8420100" y="2914650"/>
            <a:ext cx="2324100" cy="3048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52B"/>
                </a:solidFill>
              </a:defRPr>
            </a:pPr>
            <a:r>
              <a:rPr sz="1350" b="1">
                <a:solidFill>
                  <a:srgbClr val="1F252B"/>
                </a:solidFill>
              </a:rPr>
              <a:t>Time-series validation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F4760219-1D41-404D-90B1-8CF8E37B5EA7}"/>
              </a:ext>
            </a:extLst>
          </p:cNvPr>
          <p:cNvSpPr>
            <a:spLocks noGrp="1"/>
          </p:cNvSpPr>
          <p:nvPr/>
        </p:nvSpPr>
        <p:spPr>
          <a:xfrm>
            <a:off x="8420100" y="3257550"/>
            <a:ext cx="2247900" cy="552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0">
                <a:solidFill>
                  <a:srgbClr val="5E5E5D"/>
                </a:solidFill>
              </a:defRPr>
            </a:pPr>
            <a:r>
              <a:rPr sz="975" b="0">
                <a:solidFill>
                  <a:srgbClr val="5E5E5D"/>
                </a:solidFill>
              </a:rPr>
              <a:t>Rolling-origin CV uses chronological 14-day forecast windows for model selection.</a:t>
            </a:r>
          </a:p>
        </p:txBody>
      </p:sp>
      <p:sp>
        <p:nvSpPr>
          <p:cNvPr id="25" name="Abgerundetes Rechteck 24">
            <a:extLst>
              <a:ext uri="{FF2B5EF4-FFF2-40B4-BE49-F238E27FC236}">
                <a16:creationId xmlns:a16="http://schemas.microsoft.com/office/drawing/2014/main" id="{B0307C43-1A84-4715-83AA-30E93A02CC91}"/>
              </a:ext>
            </a:extLst>
          </p:cNvPr>
          <p:cNvSpPr>
            <a:spLocks noGrp="1"/>
          </p:cNvSpPr>
          <p:nvPr/>
        </p:nvSpPr>
        <p:spPr>
          <a:xfrm>
            <a:off x="838200" y="4114800"/>
            <a:ext cx="5086350" cy="1485900"/>
          </a:xfrm>
          <a:prstGeom prst="roundRect">
            <a:avLst>
              <a:gd name="adj" fmla="val 9000"/>
            </a:avLst>
          </a:prstGeom>
          <a:solidFill>
            <a:srgbClr val="FAFAFA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DEFA251-7A4C-4E7B-B614-28D41A83A239}"/>
              </a:ext>
            </a:extLst>
          </p:cNvPr>
          <p:cNvSpPr>
            <a:spLocks noGrp="1"/>
          </p:cNvSpPr>
          <p:nvPr/>
        </p:nvSpPr>
        <p:spPr>
          <a:xfrm>
            <a:off x="1104900" y="4286250"/>
            <a:ext cx="20955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52B"/>
                </a:solidFill>
              </a:defRPr>
            </a:pPr>
            <a:r>
              <a:rPr sz="1350" b="1">
                <a:solidFill>
                  <a:srgbClr val="1F252B"/>
                </a:solidFill>
              </a:rPr>
              <a:t>Feature engineering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D056143B-871E-4C42-A7CE-8B5F79E546CE}"/>
              </a:ext>
            </a:extLst>
          </p:cNvPr>
          <p:cNvSpPr>
            <a:spLocks noGrp="1"/>
          </p:cNvSpPr>
          <p:nvPr/>
        </p:nvSpPr>
        <p:spPr>
          <a:xfrm>
            <a:off x="1104900" y="4617265"/>
            <a:ext cx="66675" cy="66675"/>
          </a:xfrm>
          <a:prstGeom prst="rect">
            <a:avLst/>
          </a:prstGeom>
          <a:solidFill>
            <a:srgbClr val="91083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7AA5921E-F28D-415E-AD0D-07F04DCBF161}"/>
              </a:ext>
            </a:extLst>
          </p:cNvPr>
          <p:cNvSpPr>
            <a:spLocks noGrp="1"/>
          </p:cNvSpPr>
          <p:nvPr/>
        </p:nvSpPr>
        <p:spPr>
          <a:xfrm>
            <a:off x="1276350" y="4581525"/>
            <a:ext cx="10477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910830"/>
                </a:solidFill>
              </a:defRPr>
            </a:pPr>
            <a:r>
              <a:rPr sz="975" b="1" dirty="0">
                <a:solidFill>
                  <a:srgbClr val="910830"/>
                </a:solidFill>
              </a:rPr>
              <a:t>Calendar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AE3D226-BF73-4FD3-B71B-FA949653E337}"/>
              </a:ext>
            </a:extLst>
          </p:cNvPr>
          <p:cNvSpPr>
            <a:spLocks noGrp="1"/>
          </p:cNvSpPr>
          <p:nvPr/>
        </p:nvSpPr>
        <p:spPr>
          <a:xfrm>
            <a:off x="2305050" y="4581525"/>
            <a:ext cx="314325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5E5D"/>
                </a:solidFill>
              </a:defRPr>
            </a:pPr>
            <a:r>
              <a:rPr sz="900" b="0">
                <a:solidFill>
                  <a:srgbClr val="5E5E5D"/>
                </a:solidFill>
              </a:rPr>
              <a:t>target hour, weekday, month, weekend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539DF61-CEE8-4208-96CB-2B0EE3187897}"/>
              </a:ext>
            </a:extLst>
          </p:cNvPr>
          <p:cNvSpPr>
            <a:spLocks noGrp="1"/>
          </p:cNvSpPr>
          <p:nvPr/>
        </p:nvSpPr>
        <p:spPr>
          <a:xfrm>
            <a:off x="1104900" y="4864915"/>
            <a:ext cx="66675" cy="66675"/>
          </a:xfrm>
          <a:prstGeom prst="rect">
            <a:avLst/>
          </a:prstGeom>
          <a:solidFill>
            <a:srgbClr val="14316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4C8FF33-6A69-413B-9F87-E90E0B835C6C}"/>
              </a:ext>
            </a:extLst>
          </p:cNvPr>
          <p:cNvSpPr>
            <a:spLocks noGrp="1"/>
          </p:cNvSpPr>
          <p:nvPr/>
        </p:nvSpPr>
        <p:spPr>
          <a:xfrm>
            <a:off x="1276350" y="4829175"/>
            <a:ext cx="10477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43164"/>
                </a:solidFill>
              </a:defRPr>
            </a:pPr>
            <a:r>
              <a:rPr sz="975" b="1">
                <a:solidFill>
                  <a:srgbClr val="143164"/>
                </a:solidFill>
              </a:rPr>
              <a:t>Cyclical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41C7A30-C265-43E5-B1AD-21E410A1DE97}"/>
              </a:ext>
            </a:extLst>
          </p:cNvPr>
          <p:cNvSpPr>
            <a:spLocks noGrp="1"/>
          </p:cNvSpPr>
          <p:nvPr/>
        </p:nvSpPr>
        <p:spPr>
          <a:xfrm>
            <a:off x="2305050" y="4829175"/>
            <a:ext cx="314325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5E5D"/>
                </a:solidFill>
              </a:defRPr>
            </a:pPr>
            <a:r>
              <a:rPr sz="900" b="0">
                <a:solidFill>
                  <a:srgbClr val="5E5E5D"/>
                </a:solidFill>
              </a:rPr>
              <a:t>sin/cos encodes hour and month cycles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80E8F5C-07EA-4E92-8382-31C8DC8784B9}"/>
              </a:ext>
            </a:extLst>
          </p:cNvPr>
          <p:cNvSpPr>
            <a:spLocks noGrp="1"/>
          </p:cNvSpPr>
          <p:nvPr/>
        </p:nvSpPr>
        <p:spPr>
          <a:xfrm>
            <a:off x="1104900" y="5112565"/>
            <a:ext cx="66675" cy="66675"/>
          </a:xfrm>
          <a:prstGeom prst="rect">
            <a:avLst/>
          </a:prstGeom>
          <a:solidFill>
            <a:srgbClr val="87BF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7138FFE-904F-4F98-8DB7-67AF2B2CD566}"/>
              </a:ext>
            </a:extLst>
          </p:cNvPr>
          <p:cNvSpPr>
            <a:spLocks noGrp="1"/>
          </p:cNvSpPr>
          <p:nvPr/>
        </p:nvSpPr>
        <p:spPr>
          <a:xfrm>
            <a:off x="1276350" y="5076825"/>
            <a:ext cx="10477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87BF2A"/>
                </a:solidFill>
              </a:defRPr>
            </a:pPr>
            <a:r>
              <a:rPr sz="975" b="1">
                <a:solidFill>
                  <a:srgbClr val="87BF2A"/>
                </a:solidFill>
              </a:rPr>
              <a:t>Weather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A900B4D-C43E-45C7-B39D-E3B612C7DD57}"/>
              </a:ext>
            </a:extLst>
          </p:cNvPr>
          <p:cNvSpPr>
            <a:spLocks noGrp="1"/>
          </p:cNvSpPr>
          <p:nvPr/>
        </p:nvSpPr>
        <p:spPr>
          <a:xfrm>
            <a:off x="2305050" y="5076825"/>
            <a:ext cx="314325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5E5D"/>
                </a:solidFill>
              </a:defRPr>
            </a:pPr>
            <a:r>
              <a:rPr sz="900" b="0">
                <a:solidFill>
                  <a:srgbClr val="5E5E5D"/>
                </a:solidFill>
              </a:rPr>
              <a:t>target-hour weather buckets + measurements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75EE2E3-2E34-4AE6-BD43-F05E9F630F09}"/>
              </a:ext>
            </a:extLst>
          </p:cNvPr>
          <p:cNvSpPr>
            <a:spLocks noGrp="1"/>
          </p:cNvSpPr>
          <p:nvPr/>
        </p:nvSpPr>
        <p:spPr>
          <a:xfrm>
            <a:off x="1104900" y="5360215"/>
            <a:ext cx="66675" cy="66675"/>
          </a:xfrm>
          <a:prstGeom prst="rect">
            <a:avLst/>
          </a:prstGeom>
          <a:solidFill>
            <a:srgbClr val="E77C1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5BF0A13D-7D14-49B4-BA67-C835860B1F52}"/>
              </a:ext>
            </a:extLst>
          </p:cNvPr>
          <p:cNvSpPr>
            <a:spLocks noGrp="1"/>
          </p:cNvSpPr>
          <p:nvPr/>
        </p:nvSpPr>
        <p:spPr>
          <a:xfrm>
            <a:off x="1276350" y="5324475"/>
            <a:ext cx="10477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E77C12"/>
                </a:solidFill>
              </a:defRPr>
            </a:pPr>
            <a:r>
              <a:rPr sz="975" b="1">
                <a:solidFill>
                  <a:srgbClr val="E77C12"/>
                </a:solidFill>
              </a:rPr>
              <a:t>BikeCount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8F5020B0-DE90-4E05-ADE1-B5D85CB310EC}"/>
              </a:ext>
            </a:extLst>
          </p:cNvPr>
          <p:cNvSpPr>
            <a:spLocks noGrp="1"/>
          </p:cNvSpPr>
          <p:nvPr/>
        </p:nvSpPr>
        <p:spPr>
          <a:xfrm>
            <a:off x="2305050" y="5324475"/>
            <a:ext cx="314325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5E5D"/>
                </a:solidFill>
              </a:defRPr>
            </a:pPr>
            <a:r>
              <a:rPr sz="900" b="0">
                <a:solidFill>
                  <a:srgbClr val="5E5E5D"/>
                </a:solidFill>
              </a:rPr>
              <a:t>horizon-aware lags and rolling means only</a:t>
            </a:r>
          </a:p>
        </p:txBody>
      </p:sp>
      <p:sp>
        <p:nvSpPr>
          <p:cNvPr id="39" name="Abgerundetes Rechteck 38">
            <a:extLst>
              <a:ext uri="{FF2B5EF4-FFF2-40B4-BE49-F238E27FC236}">
                <a16:creationId xmlns:a16="http://schemas.microsoft.com/office/drawing/2014/main" id="{D2CF30BA-E35F-4CCF-80D5-B5B4D354BEC2}"/>
              </a:ext>
            </a:extLst>
          </p:cNvPr>
          <p:cNvSpPr>
            <a:spLocks noGrp="1"/>
          </p:cNvSpPr>
          <p:nvPr/>
        </p:nvSpPr>
        <p:spPr>
          <a:xfrm>
            <a:off x="6191250" y="4114800"/>
            <a:ext cx="4724400" cy="1485900"/>
          </a:xfrm>
          <a:prstGeom prst="roundRect">
            <a:avLst>
              <a:gd name="adj" fmla="val 9000"/>
            </a:avLst>
          </a:prstGeom>
          <a:solidFill>
            <a:srgbClr val="FAFAFA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87958C8B-5E43-4758-86B4-116D0D97119C}"/>
              </a:ext>
            </a:extLst>
          </p:cNvPr>
          <p:cNvSpPr>
            <a:spLocks noGrp="1"/>
          </p:cNvSpPr>
          <p:nvPr/>
        </p:nvSpPr>
        <p:spPr>
          <a:xfrm>
            <a:off x="6457950" y="4286250"/>
            <a:ext cx="27622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52B"/>
                </a:solidFill>
              </a:defRPr>
            </a:pPr>
            <a:r>
              <a:rPr sz="1350" b="1">
                <a:solidFill>
                  <a:srgbClr val="1F252B"/>
                </a:solidFill>
              </a:rPr>
              <a:t>Leakage controls &amp; assumptions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817BFCFF-6D38-40FB-A98B-EEAB9EB9B114}"/>
              </a:ext>
            </a:extLst>
          </p:cNvPr>
          <p:cNvSpPr>
            <a:spLocks noGrp="1"/>
          </p:cNvSpPr>
          <p:nvPr/>
        </p:nvSpPr>
        <p:spPr>
          <a:xfrm>
            <a:off x="6457950" y="4636315"/>
            <a:ext cx="66675" cy="66675"/>
          </a:xfrm>
          <a:prstGeom prst="rect">
            <a:avLst/>
          </a:prstGeom>
          <a:solidFill>
            <a:srgbClr val="91083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8430B561-793C-4562-BA57-E4DB9431C0E3}"/>
              </a:ext>
            </a:extLst>
          </p:cNvPr>
          <p:cNvSpPr>
            <a:spLocks noGrp="1"/>
          </p:cNvSpPr>
          <p:nvPr/>
        </p:nvSpPr>
        <p:spPr>
          <a:xfrm>
            <a:off x="6629400" y="4600575"/>
            <a:ext cx="10477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910830"/>
                </a:solidFill>
              </a:defRPr>
            </a:pPr>
            <a:r>
              <a:rPr sz="975" b="1">
                <a:solidFill>
                  <a:srgbClr val="910830"/>
                </a:solidFill>
              </a:rPr>
              <a:t>BikeCount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F94B5AC-907A-47CE-86F2-9C2ED6852144}"/>
              </a:ext>
            </a:extLst>
          </p:cNvPr>
          <p:cNvSpPr>
            <a:spLocks noGrp="1"/>
          </p:cNvSpPr>
          <p:nvPr/>
        </p:nvSpPr>
        <p:spPr>
          <a:xfrm>
            <a:off x="7658100" y="4600575"/>
            <a:ext cx="314325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5E5D"/>
                </a:solidFill>
              </a:defRPr>
            </a:pPr>
            <a:r>
              <a:rPr sz="900" b="0">
                <a:solidFill>
                  <a:srgbClr val="5E5E5D"/>
                </a:solidFill>
              </a:rPr>
              <a:t>horizon-aware lags from known history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A33040F0-754D-4007-99E5-7B207392F8FB}"/>
              </a:ext>
            </a:extLst>
          </p:cNvPr>
          <p:cNvSpPr>
            <a:spLocks noGrp="1"/>
          </p:cNvSpPr>
          <p:nvPr/>
        </p:nvSpPr>
        <p:spPr>
          <a:xfrm>
            <a:off x="6457950" y="4960165"/>
            <a:ext cx="66675" cy="66675"/>
          </a:xfrm>
          <a:prstGeom prst="rect">
            <a:avLst/>
          </a:prstGeom>
          <a:solidFill>
            <a:srgbClr val="14316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4FC82AC8-43DF-420C-A167-8E2B10AD59DD}"/>
              </a:ext>
            </a:extLst>
          </p:cNvPr>
          <p:cNvSpPr>
            <a:spLocks noGrp="1"/>
          </p:cNvSpPr>
          <p:nvPr/>
        </p:nvSpPr>
        <p:spPr>
          <a:xfrm>
            <a:off x="6629400" y="4924425"/>
            <a:ext cx="10477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43164"/>
                </a:solidFill>
              </a:defRPr>
            </a:pPr>
            <a:r>
              <a:rPr sz="975" b="1">
                <a:solidFill>
                  <a:srgbClr val="143164"/>
                </a:solidFill>
              </a:rPr>
              <a:t>Weather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5A425C54-5330-4790-90E8-C54D0D2D3EFA}"/>
              </a:ext>
            </a:extLst>
          </p:cNvPr>
          <p:cNvSpPr>
            <a:spLocks noGrp="1"/>
          </p:cNvSpPr>
          <p:nvPr/>
        </p:nvSpPr>
        <p:spPr>
          <a:xfrm>
            <a:off x="7658100" y="4924425"/>
            <a:ext cx="314325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5E5D"/>
                </a:solidFill>
              </a:defRPr>
            </a:pPr>
            <a:r>
              <a:rPr sz="900" b="0">
                <a:solidFill>
                  <a:srgbClr val="5E5E5D"/>
                </a:solidFill>
              </a:rPr>
              <a:t>target-hour values treated as exogenous input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0091FF00-5A1A-4488-8747-170724E654D3}"/>
              </a:ext>
            </a:extLst>
          </p:cNvPr>
          <p:cNvSpPr>
            <a:spLocks noGrp="1"/>
          </p:cNvSpPr>
          <p:nvPr/>
        </p:nvSpPr>
        <p:spPr>
          <a:xfrm>
            <a:off x="6457950" y="5284015"/>
            <a:ext cx="66675" cy="66675"/>
          </a:xfrm>
          <a:prstGeom prst="rect">
            <a:avLst/>
          </a:prstGeom>
          <a:solidFill>
            <a:srgbClr val="87BF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8667804E-08CD-4AA3-9980-32AFF2505A47}"/>
              </a:ext>
            </a:extLst>
          </p:cNvPr>
          <p:cNvSpPr>
            <a:spLocks noGrp="1"/>
          </p:cNvSpPr>
          <p:nvPr/>
        </p:nvSpPr>
        <p:spPr>
          <a:xfrm>
            <a:off x="6629400" y="5248275"/>
            <a:ext cx="104775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87BF2A"/>
                </a:solidFill>
              </a:defRPr>
            </a:pPr>
            <a:r>
              <a:rPr sz="975" b="1">
                <a:solidFill>
                  <a:srgbClr val="87BF2A"/>
                </a:solidFill>
              </a:rPr>
              <a:t>Validation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56D8B6FD-C7BF-44A0-AC0F-CD9B2ECD0957}"/>
              </a:ext>
            </a:extLst>
          </p:cNvPr>
          <p:cNvSpPr>
            <a:spLocks noGrp="1"/>
          </p:cNvSpPr>
          <p:nvPr/>
        </p:nvSpPr>
        <p:spPr>
          <a:xfrm>
            <a:off x="7658100" y="5248275"/>
            <a:ext cx="314325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E5E5D"/>
                </a:solidFill>
              </a:defRPr>
            </a:pPr>
            <a:r>
              <a:rPr sz="900" b="0">
                <a:solidFill>
                  <a:srgbClr val="5E5E5D"/>
                </a:solidFill>
              </a:rPr>
              <a:t>chronological rolling-origin CV</a:t>
            </a:r>
          </a:p>
        </p:txBody>
      </p:sp>
      <p:sp>
        <p:nvSpPr>
          <p:cNvPr id="50" name="Abgerundetes Rechteck 49">
            <a:extLst>
              <a:ext uri="{FF2B5EF4-FFF2-40B4-BE49-F238E27FC236}">
                <a16:creationId xmlns:a16="http://schemas.microsoft.com/office/drawing/2014/main" id="{2CCED4A2-AD72-47D1-8ECA-AA05782F3F9D}"/>
              </a:ext>
            </a:extLst>
          </p:cNvPr>
          <p:cNvSpPr>
            <a:spLocks noGrp="1"/>
          </p:cNvSpPr>
          <p:nvPr/>
        </p:nvSpPr>
        <p:spPr>
          <a:xfrm>
            <a:off x="838200" y="5715000"/>
            <a:ext cx="1466850" cy="51435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7DA67C2-8EE4-4C60-87BB-24B8A33232A8}"/>
              </a:ext>
            </a:extLst>
          </p:cNvPr>
          <p:cNvSpPr>
            <a:spLocks noGrp="1"/>
          </p:cNvSpPr>
          <p:nvPr/>
        </p:nvSpPr>
        <p:spPr>
          <a:xfrm>
            <a:off x="990600" y="5762625"/>
            <a:ext cx="11049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910830"/>
                </a:solidFill>
              </a:defRPr>
            </a:pPr>
            <a:r>
              <a:rPr sz="1575" b="1">
                <a:solidFill>
                  <a:srgbClr val="910830"/>
                </a:solidFill>
              </a:rPr>
              <a:t>8,759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9850067A-F48D-4DCC-B7F2-8F7682850210}"/>
              </a:ext>
            </a:extLst>
          </p:cNvPr>
          <p:cNvSpPr>
            <a:spLocks noGrp="1"/>
          </p:cNvSpPr>
          <p:nvPr/>
        </p:nvSpPr>
        <p:spPr>
          <a:xfrm>
            <a:off x="990600" y="6019800"/>
            <a:ext cx="11049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5E5D"/>
                </a:solidFill>
              </a:defRPr>
            </a:pPr>
            <a:r>
              <a:rPr sz="825" b="0">
                <a:solidFill>
                  <a:srgbClr val="5E5E5D"/>
                </a:solidFill>
              </a:rPr>
              <a:t>clean rows</a:t>
            </a:r>
          </a:p>
        </p:txBody>
      </p:sp>
      <p:sp>
        <p:nvSpPr>
          <p:cNvPr id="53" name="Abgerundetes Rechteck 52">
            <a:extLst>
              <a:ext uri="{FF2B5EF4-FFF2-40B4-BE49-F238E27FC236}">
                <a16:creationId xmlns:a16="http://schemas.microsoft.com/office/drawing/2014/main" id="{95485292-D4BD-420A-AE56-3CF79E99E498}"/>
              </a:ext>
            </a:extLst>
          </p:cNvPr>
          <p:cNvSpPr>
            <a:spLocks noGrp="1"/>
          </p:cNvSpPr>
          <p:nvPr/>
        </p:nvSpPr>
        <p:spPr>
          <a:xfrm>
            <a:off x="2495550" y="5715000"/>
            <a:ext cx="1466850" cy="51435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220CD736-3F6C-428D-A8A1-8B5868738F8C}"/>
              </a:ext>
            </a:extLst>
          </p:cNvPr>
          <p:cNvSpPr>
            <a:spLocks noGrp="1"/>
          </p:cNvSpPr>
          <p:nvPr/>
        </p:nvSpPr>
        <p:spPr>
          <a:xfrm>
            <a:off x="2647950" y="5762625"/>
            <a:ext cx="11049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43164"/>
                </a:solidFill>
              </a:defRPr>
            </a:pPr>
            <a:r>
              <a:rPr sz="1575" b="1">
                <a:solidFill>
                  <a:srgbClr val="143164"/>
                </a:solidFill>
              </a:rPr>
              <a:t>7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5DB3E6F0-5AD6-4F9A-AA7C-0ED0D4FE8039}"/>
              </a:ext>
            </a:extLst>
          </p:cNvPr>
          <p:cNvSpPr>
            <a:spLocks noGrp="1"/>
          </p:cNvSpPr>
          <p:nvPr/>
        </p:nvSpPr>
        <p:spPr>
          <a:xfrm>
            <a:off x="2647950" y="6019800"/>
            <a:ext cx="11049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5E5D"/>
                </a:solidFill>
              </a:defRPr>
            </a:pPr>
            <a:r>
              <a:rPr sz="825" b="0">
                <a:solidFill>
                  <a:srgbClr val="5E5E5D"/>
                </a:solidFill>
              </a:rPr>
              <a:t>model candidates</a:t>
            </a:r>
          </a:p>
        </p:txBody>
      </p:sp>
      <p:sp>
        <p:nvSpPr>
          <p:cNvPr id="56" name="Abgerundetes Rechteck 55">
            <a:extLst>
              <a:ext uri="{FF2B5EF4-FFF2-40B4-BE49-F238E27FC236}">
                <a16:creationId xmlns:a16="http://schemas.microsoft.com/office/drawing/2014/main" id="{25A4B556-988A-4F9D-95AA-C914031B8BD1}"/>
              </a:ext>
            </a:extLst>
          </p:cNvPr>
          <p:cNvSpPr>
            <a:spLocks noGrp="1"/>
          </p:cNvSpPr>
          <p:nvPr/>
        </p:nvSpPr>
        <p:spPr>
          <a:xfrm>
            <a:off x="4152900" y="5715000"/>
            <a:ext cx="1466850" cy="51435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E1CE550-B121-449A-8FEB-BBEE82FE930C}"/>
              </a:ext>
            </a:extLst>
          </p:cNvPr>
          <p:cNvSpPr>
            <a:spLocks noGrp="1"/>
          </p:cNvSpPr>
          <p:nvPr/>
        </p:nvSpPr>
        <p:spPr>
          <a:xfrm>
            <a:off x="4305300" y="5762625"/>
            <a:ext cx="11049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87BF2A"/>
                </a:solidFill>
              </a:defRPr>
            </a:pPr>
            <a:r>
              <a:rPr sz="1575" b="1">
                <a:solidFill>
                  <a:srgbClr val="87BF2A"/>
                </a:solidFill>
              </a:rPr>
              <a:t>14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6D222C3C-8D5E-495D-902A-696F50AF3690}"/>
              </a:ext>
            </a:extLst>
          </p:cNvPr>
          <p:cNvSpPr>
            <a:spLocks noGrp="1"/>
          </p:cNvSpPr>
          <p:nvPr/>
        </p:nvSpPr>
        <p:spPr>
          <a:xfrm>
            <a:off x="4305300" y="6019800"/>
            <a:ext cx="11049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825" b="0">
                <a:solidFill>
                  <a:srgbClr val="5E5E5D"/>
                </a:solidFill>
              </a:defRPr>
            </a:pPr>
            <a:r>
              <a:rPr sz="825" b="0">
                <a:solidFill>
                  <a:srgbClr val="5E5E5D"/>
                </a:solidFill>
              </a:rPr>
              <a:t>CV windows / horizon</a:t>
            </a:r>
          </a:p>
        </p:txBody>
      </p:sp>
    </p:spTree>
    <p:extLst>
      <p:ext uri="{BB962C8B-B14F-4D97-AF65-F5344CB8AC3E}">
        <p14:creationId xmlns:p14="http://schemas.microsoft.com/office/powerpoint/2010/main" val="1403712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40201" y="533400"/>
            <a:ext cx="1996248" cy="552450"/>
          </a:xfrm>
          <a:prstGeom prst="rect">
            <a:avLst/>
          </a:prstGeom>
        </p:spPr>
      </p:pic>
      <p:pic>
        <p:nvPicPr>
          <p:cNvPr id="3" name="Grafik 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791700" y="460356"/>
            <a:ext cx="1619250" cy="946188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98EA5031-3B8A-444B-8A7B-AF477D0C444A}"/>
              </a:ext>
            </a:extLst>
          </p:cNvPr>
          <p:cNvSpPr>
            <a:spLocks noGrp="1"/>
          </p:cNvSpPr>
          <p:nvPr/>
        </p:nvSpPr>
        <p:spPr>
          <a:xfrm>
            <a:off x="838200" y="1314450"/>
            <a:ext cx="74295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5E5E5D"/>
                </a:solidFill>
              </a:defRPr>
            </a:pPr>
            <a:r>
              <a:rPr sz="1125" b="1">
                <a:solidFill>
                  <a:srgbClr val="5E5E5D"/>
                </a:solidFill>
              </a:rPr>
              <a:t>Results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576AC9A-8EB2-4252-8069-8AFA00062C47}"/>
              </a:ext>
            </a:extLst>
          </p:cNvPr>
          <p:cNvSpPr>
            <a:spLocks noGrp="1"/>
          </p:cNvSpPr>
          <p:nvPr/>
        </p:nvSpPr>
        <p:spPr>
          <a:xfrm>
            <a:off x="476250" y="6305550"/>
            <a:ext cx="11315700" cy="19050"/>
          </a:xfrm>
          <a:prstGeom prst="rect">
            <a:avLst/>
          </a:prstGeom>
          <a:solidFill>
            <a:srgbClr val="91083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6D2B64-64BD-4DDD-AFDD-BA729CBD4993}"/>
              </a:ext>
            </a:extLst>
          </p:cNvPr>
          <p:cNvSpPr>
            <a:spLocks noGrp="1"/>
          </p:cNvSpPr>
          <p:nvPr/>
        </p:nvSpPr>
        <p:spPr>
          <a:xfrm>
            <a:off x="476250" y="6438900"/>
            <a:ext cx="4953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5E5E5D"/>
                </a:solidFill>
              </a:defRPr>
            </a:pPr>
            <a:r>
              <a:rPr sz="1050" b="1">
                <a:solidFill>
                  <a:srgbClr val="5E5E5D"/>
                </a:solidFill>
              </a:rPr>
              <a:t>Group 18 | Bike Count Estimation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F0BEDD3-2F3B-4C9C-915F-A5C564344333}"/>
              </a:ext>
            </a:extLst>
          </p:cNvPr>
          <p:cNvSpPr>
            <a:spLocks noGrp="1"/>
          </p:cNvSpPr>
          <p:nvPr/>
        </p:nvSpPr>
        <p:spPr>
          <a:xfrm>
            <a:off x="10668000" y="6438900"/>
            <a:ext cx="112395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050" b="1">
                <a:solidFill>
                  <a:srgbClr val="5E5E5D"/>
                </a:solidFill>
              </a:defRPr>
            </a:pPr>
            <a:r>
              <a:rPr sz="1050" b="1">
                <a:solidFill>
                  <a:srgbClr val="5E5E5D"/>
                </a:solidFill>
              </a:rPr>
              <a:t>2 / 2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6BF0C5-420B-4A8D-9BC4-113038561A59}"/>
              </a:ext>
            </a:extLst>
          </p:cNvPr>
          <p:cNvSpPr>
            <a:spLocks noGrp="1"/>
          </p:cNvSpPr>
          <p:nvPr/>
        </p:nvSpPr>
        <p:spPr>
          <a:xfrm>
            <a:off x="838200" y="1695450"/>
            <a:ext cx="9906000" cy="5143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250" b="1">
                <a:solidFill>
                  <a:srgbClr val="910830"/>
                </a:solidFill>
              </a:defRPr>
            </a:pPr>
            <a:r>
              <a:rPr sz="2250" b="1">
                <a:solidFill>
                  <a:srgbClr val="910830"/>
                </a:solidFill>
              </a:rPr>
              <a:t>From model comparison to final XGBoost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E5CEFC7-704A-4B4D-9B9F-437377569D78}"/>
              </a:ext>
            </a:extLst>
          </p:cNvPr>
          <p:cNvSpPr>
            <a:spLocks noGrp="1"/>
          </p:cNvSpPr>
          <p:nvPr/>
        </p:nvSpPr>
        <p:spPr>
          <a:xfrm>
            <a:off x="857250" y="2266950"/>
            <a:ext cx="9906000" cy="3619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5E5D"/>
                </a:solidFill>
              </a:defRPr>
            </a:pPr>
            <a:r>
              <a:rPr sz="1200" b="0" dirty="0">
                <a:solidFill>
                  <a:srgbClr val="5E5E5D"/>
                </a:solidFill>
              </a:rPr>
              <a:t>We first compared simple baselines and required model families, then selected the strongest cross-validation performer.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027A00E-1956-42A5-9776-089FFB08EE90}"/>
              </a:ext>
            </a:extLst>
          </p:cNvPr>
          <p:cNvSpPr>
            <a:spLocks noGrp="1"/>
          </p:cNvSpPr>
          <p:nvPr/>
        </p:nvSpPr>
        <p:spPr>
          <a:xfrm>
            <a:off x="838200" y="2570779"/>
            <a:ext cx="20955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F252B"/>
                </a:solidFill>
              </a:defRPr>
            </a:pPr>
            <a:r>
              <a:rPr sz="1350" b="1" dirty="0">
                <a:solidFill>
                  <a:srgbClr val="1F252B"/>
                </a:solidFill>
              </a:rPr>
              <a:t>Selection funnel</a:t>
            </a:r>
          </a:p>
        </p:txBody>
      </p:sp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98BB31E6-DE2E-4420-8214-644F31B40601}"/>
              </a:ext>
            </a:extLst>
          </p:cNvPr>
          <p:cNvSpPr>
            <a:spLocks noGrp="1"/>
          </p:cNvSpPr>
          <p:nvPr/>
        </p:nvSpPr>
        <p:spPr>
          <a:xfrm>
            <a:off x="838200" y="2875579"/>
            <a:ext cx="4191000" cy="6858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986D13B-1712-49DD-A18E-83B72C0D7FBA}"/>
              </a:ext>
            </a:extLst>
          </p:cNvPr>
          <p:cNvSpPr>
            <a:spLocks noGrp="1"/>
          </p:cNvSpPr>
          <p:nvPr/>
        </p:nvSpPr>
        <p:spPr>
          <a:xfrm>
            <a:off x="838200" y="2875579"/>
            <a:ext cx="66675" cy="685800"/>
          </a:xfrm>
          <a:prstGeom prst="rect">
            <a:avLst/>
          </a:prstGeom>
          <a:solidFill>
            <a:srgbClr val="91083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E5BA416-4402-4333-878D-BC2179EB7CCB}"/>
              </a:ext>
            </a:extLst>
          </p:cNvPr>
          <p:cNvSpPr>
            <a:spLocks noGrp="1"/>
          </p:cNvSpPr>
          <p:nvPr/>
        </p:nvSpPr>
        <p:spPr>
          <a:xfrm>
            <a:off x="1009650" y="3037504"/>
            <a:ext cx="304800" cy="2857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910830"/>
                </a:solidFill>
              </a:defRPr>
            </a:pPr>
            <a:r>
              <a:rPr sz="1350" b="1">
                <a:solidFill>
                  <a:srgbClr val="910830"/>
                </a:solidFill>
              </a:rPr>
              <a:t>1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47DF326-FE1C-45DA-8476-B26D6674857A}"/>
              </a:ext>
            </a:extLst>
          </p:cNvPr>
          <p:cNvSpPr>
            <a:spLocks noGrp="1"/>
          </p:cNvSpPr>
          <p:nvPr/>
        </p:nvSpPr>
        <p:spPr>
          <a:xfrm>
            <a:off x="1428750" y="3008929"/>
            <a:ext cx="33909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F252B"/>
                </a:solidFill>
              </a:defRPr>
            </a:pPr>
            <a:r>
              <a:rPr sz="1125" b="1">
                <a:solidFill>
                  <a:srgbClr val="1F252B"/>
                </a:solidFill>
              </a:rPr>
              <a:t>Compare model families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3585567E-57E7-4E14-A647-93787CD001BF}"/>
              </a:ext>
            </a:extLst>
          </p:cNvPr>
          <p:cNvSpPr>
            <a:spLocks noGrp="1"/>
          </p:cNvSpPr>
          <p:nvPr/>
        </p:nvSpPr>
        <p:spPr>
          <a:xfrm>
            <a:off x="1428750" y="3256579"/>
            <a:ext cx="3390900" cy="2476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9063"/>
          </a:bodyPr>
          <a:lstStyle/>
          <a:p>
            <a:pPr algn="l">
              <a:defRPr sz="825" b="0">
                <a:solidFill>
                  <a:srgbClr val="5E5E5D"/>
                </a:solidFill>
              </a:defRPr>
            </a:pPr>
            <a:r>
              <a:rPr sz="825" b="0" dirty="0">
                <a:solidFill>
                  <a:srgbClr val="5E5E5D"/>
                </a:solidFill>
              </a:rPr>
              <a:t>Ridge, </a:t>
            </a:r>
            <a:r>
              <a:rPr sz="825" b="0" dirty="0" err="1">
                <a:solidFill>
                  <a:srgbClr val="5E5E5D"/>
                </a:solidFill>
              </a:rPr>
              <a:t>RandomForest</a:t>
            </a:r>
            <a:r>
              <a:rPr sz="825" b="0" dirty="0">
                <a:solidFill>
                  <a:srgbClr val="5E5E5D"/>
                </a:solidFill>
              </a:rPr>
              <a:t>, </a:t>
            </a:r>
            <a:r>
              <a:rPr sz="825" b="0" dirty="0" err="1">
                <a:solidFill>
                  <a:srgbClr val="5E5E5D"/>
                </a:solidFill>
              </a:rPr>
              <a:t>XGBoost</a:t>
            </a:r>
            <a:r>
              <a:rPr sz="825" b="0" dirty="0">
                <a:solidFill>
                  <a:srgbClr val="5E5E5D"/>
                </a:solidFill>
              </a:rPr>
              <a:t> and MLP cover the required linear, tree-based and neural-network approaches.</a:t>
            </a:r>
          </a:p>
        </p:txBody>
      </p:sp>
      <p:sp>
        <p:nvSpPr>
          <p:cNvPr id="16" name="Pfeil nach unten 15">
            <a:extLst>
              <a:ext uri="{FF2B5EF4-FFF2-40B4-BE49-F238E27FC236}">
                <a16:creationId xmlns:a16="http://schemas.microsoft.com/office/drawing/2014/main" id="{67E9C838-E4B4-41CB-BBF9-389286C2766D}"/>
              </a:ext>
            </a:extLst>
          </p:cNvPr>
          <p:cNvSpPr>
            <a:spLocks noGrp="1"/>
          </p:cNvSpPr>
          <p:nvPr/>
        </p:nvSpPr>
        <p:spPr>
          <a:xfrm>
            <a:off x="2895600" y="3618529"/>
            <a:ext cx="323850" cy="228600"/>
          </a:xfrm>
          <a:prstGeom prst="downArrow">
            <a:avLst/>
          </a:prstGeom>
          <a:solidFill>
            <a:srgbClr val="8797A3"/>
          </a:solidFill>
          <a:ln w="0">
            <a:solidFill>
              <a:srgbClr val="8797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Abgerundetes Rechteck 16">
            <a:extLst>
              <a:ext uri="{FF2B5EF4-FFF2-40B4-BE49-F238E27FC236}">
                <a16:creationId xmlns:a16="http://schemas.microsoft.com/office/drawing/2014/main" id="{A1AC9508-AEA2-4009-A15C-20D7767770EA}"/>
              </a:ext>
            </a:extLst>
          </p:cNvPr>
          <p:cNvSpPr>
            <a:spLocks noGrp="1"/>
          </p:cNvSpPr>
          <p:nvPr/>
        </p:nvSpPr>
        <p:spPr>
          <a:xfrm>
            <a:off x="1200150" y="3885229"/>
            <a:ext cx="3467100" cy="6477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A1ED70F2-FAA1-4CFA-B929-F611357A30F4}"/>
              </a:ext>
            </a:extLst>
          </p:cNvPr>
          <p:cNvSpPr>
            <a:spLocks noGrp="1"/>
          </p:cNvSpPr>
          <p:nvPr/>
        </p:nvSpPr>
        <p:spPr>
          <a:xfrm>
            <a:off x="1200150" y="3885229"/>
            <a:ext cx="66675" cy="647700"/>
          </a:xfrm>
          <a:prstGeom prst="rect">
            <a:avLst/>
          </a:prstGeom>
          <a:solidFill>
            <a:srgbClr val="143164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770EAC6-7503-49A0-B7BD-9D93F53DF66B}"/>
              </a:ext>
            </a:extLst>
          </p:cNvPr>
          <p:cNvSpPr>
            <a:spLocks noGrp="1"/>
          </p:cNvSpPr>
          <p:nvPr/>
        </p:nvSpPr>
        <p:spPr>
          <a:xfrm>
            <a:off x="1371600" y="4047154"/>
            <a:ext cx="304800" cy="2857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143164"/>
                </a:solidFill>
              </a:defRPr>
            </a:pPr>
            <a:r>
              <a:rPr sz="1350" b="1">
                <a:solidFill>
                  <a:srgbClr val="143164"/>
                </a:solidFill>
              </a:rPr>
              <a:t>2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205D10C-4F47-4684-A5B4-E3AD845D9238}"/>
              </a:ext>
            </a:extLst>
          </p:cNvPr>
          <p:cNvSpPr>
            <a:spLocks noGrp="1"/>
          </p:cNvSpPr>
          <p:nvPr/>
        </p:nvSpPr>
        <p:spPr>
          <a:xfrm>
            <a:off x="1790700" y="4018579"/>
            <a:ext cx="2667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F252B"/>
                </a:solidFill>
              </a:defRPr>
            </a:pPr>
            <a:r>
              <a:rPr sz="1125" b="1">
                <a:solidFill>
                  <a:srgbClr val="1F252B"/>
                </a:solidFill>
              </a:rPr>
              <a:t>Identify strongest candidate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307B14A7-6E84-4E62-8478-3DB6925DD044}"/>
              </a:ext>
            </a:extLst>
          </p:cNvPr>
          <p:cNvSpPr>
            <a:spLocks noGrp="1"/>
          </p:cNvSpPr>
          <p:nvPr/>
        </p:nvSpPr>
        <p:spPr>
          <a:xfrm>
            <a:off x="1790700" y="4266229"/>
            <a:ext cx="2667000" cy="2095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6259"/>
          </a:bodyPr>
          <a:lstStyle/>
          <a:p>
            <a:pPr algn="l">
              <a:defRPr sz="825" b="0">
                <a:solidFill>
                  <a:srgbClr val="5E5E5D"/>
                </a:solidFill>
              </a:defRPr>
            </a:pPr>
            <a:r>
              <a:rPr sz="825" b="0" dirty="0" err="1">
                <a:solidFill>
                  <a:srgbClr val="5E5E5D"/>
                </a:solidFill>
              </a:rPr>
              <a:t>XGBoost</a:t>
            </a:r>
            <a:r>
              <a:rPr sz="825" b="0" dirty="0">
                <a:solidFill>
                  <a:srgbClr val="5E5E5D"/>
                </a:solidFill>
              </a:rPr>
              <a:t> is strongest across the rolling validation windows.</a:t>
            </a:r>
          </a:p>
        </p:txBody>
      </p:sp>
      <p:sp>
        <p:nvSpPr>
          <p:cNvPr id="22" name="Pfeil nach unten 21">
            <a:extLst>
              <a:ext uri="{FF2B5EF4-FFF2-40B4-BE49-F238E27FC236}">
                <a16:creationId xmlns:a16="http://schemas.microsoft.com/office/drawing/2014/main" id="{6196980D-B4FC-459E-A2BF-82981972B252}"/>
              </a:ext>
            </a:extLst>
          </p:cNvPr>
          <p:cNvSpPr>
            <a:spLocks noGrp="1"/>
          </p:cNvSpPr>
          <p:nvPr/>
        </p:nvSpPr>
        <p:spPr>
          <a:xfrm>
            <a:off x="2895600" y="4590079"/>
            <a:ext cx="323850" cy="228600"/>
          </a:xfrm>
          <a:prstGeom prst="downArrow">
            <a:avLst/>
          </a:prstGeom>
          <a:solidFill>
            <a:srgbClr val="8797A3"/>
          </a:solidFill>
          <a:ln w="0">
            <a:solidFill>
              <a:srgbClr val="8797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Abgerundetes Rechteck 22">
            <a:extLst>
              <a:ext uri="{FF2B5EF4-FFF2-40B4-BE49-F238E27FC236}">
                <a16:creationId xmlns:a16="http://schemas.microsoft.com/office/drawing/2014/main" id="{C95224FC-93C2-4A6D-BA98-8453E9DC46B7}"/>
              </a:ext>
            </a:extLst>
          </p:cNvPr>
          <p:cNvSpPr>
            <a:spLocks noGrp="1"/>
          </p:cNvSpPr>
          <p:nvPr/>
        </p:nvSpPr>
        <p:spPr>
          <a:xfrm>
            <a:off x="1562100" y="4873567"/>
            <a:ext cx="2743200" cy="6477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0478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8D557B49-361E-4068-87D7-19E9A5BF6104}"/>
              </a:ext>
            </a:extLst>
          </p:cNvPr>
          <p:cNvSpPr>
            <a:spLocks noGrp="1"/>
          </p:cNvSpPr>
          <p:nvPr/>
        </p:nvSpPr>
        <p:spPr>
          <a:xfrm>
            <a:off x="1562100" y="4873567"/>
            <a:ext cx="66675" cy="647700"/>
          </a:xfrm>
          <a:prstGeom prst="rect">
            <a:avLst/>
          </a:prstGeom>
          <a:solidFill>
            <a:srgbClr val="87BF2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4792348-4A81-4AA8-881C-328B7688D1AC}"/>
              </a:ext>
            </a:extLst>
          </p:cNvPr>
          <p:cNvSpPr>
            <a:spLocks noGrp="1"/>
          </p:cNvSpPr>
          <p:nvPr/>
        </p:nvSpPr>
        <p:spPr>
          <a:xfrm>
            <a:off x="1733550" y="5035492"/>
            <a:ext cx="304800" cy="2857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ctr"/>
          <a:lstStyle/>
          <a:p>
            <a:pPr algn="ctr">
              <a:defRPr sz="1350" b="1">
                <a:solidFill>
                  <a:srgbClr val="87BF2A"/>
                </a:solidFill>
              </a:defRPr>
            </a:pPr>
            <a:r>
              <a:rPr sz="1350" b="1">
                <a:solidFill>
                  <a:srgbClr val="87BF2A"/>
                </a:solidFill>
              </a:rPr>
              <a:t>3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73BE9FB8-D410-47E9-BEBB-0BD473492A9B}"/>
              </a:ext>
            </a:extLst>
          </p:cNvPr>
          <p:cNvSpPr>
            <a:spLocks noGrp="1"/>
          </p:cNvSpPr>
          <p:nvPr/>
        </p:nvSpPr>
        <p:spPr>
          <a:xfrm>
            <a:off x="2152650" y="5006917"/>
            <a:ext cx="19431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F252B"/>
                </a:solidFill>
              </a:defRPr>
            </a:pPr>
            <a:r>
              <a:rPr sz="1125" b="1">
                <a:solidFill>
                  <a:srgbClr val="1F252B"/>
                </a:solidFill>
              </a:rPr>
              <a:t>Refine XGBoost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7A6FAE25-62E3-4096-8FAB-DD70DDBF9A11}"/>
              </a:ext>
            </a:extLst>
          </p:cNvPr>
          <p:cNvSpPr>
            <a:spLocks noGrp="1"/>
          </p:cNvSpPr>
          <p:nvPr/>
        </p:nvSpPr>
        <p:spPr>
          <a:xfrm>
            <a:off x="2152650" y="5254567"/>
            <a:ext cx="1943100" cy="2095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1323" lnSpcReduction="20000"/>
          </a:bodyPr>
          <a:lstStyle/>
          <a:p>
            <a:pPr algn="l">
              <a:defRPr sz="825" b="0">
                <a:solidFill>
                  <a:srgbClr val="5E5E5D"/>
                </a:solidFill>
              </a:defRPr>
            </a:pPr>
            <a:r>
              <a:rPr sz="825" b="0" dirty="0">
                <a:solidFill>
                  <a:srgbClr val="5E5E5D"/>
                </a:solidFill>
              </a:rPr>
              <a:t>Test </a:t>
            </a:r>
            <a:r>
              <a:rPr sz="825" b="0" dirty="0" err="1">
                <a:solidFill>
                  <a:srgbClr val="5E5E5D"/>
                </a:solidFill>
              </a:rPr>
              <a:t>XGBoost</a:t>
            </a:r>
            <a:r>
              <a:rPr sz="825" b="0" dirty="0">
                <a:solidFill>
                  <a:srgbClr val="5E5E5D"/>
                </a:solidFill>
              </a:rPr>
              <a:t> variants, including adjusted tree settings and log1p(</a:t>
            </a:r>
            <a:r>
              <a:rPr sz="825" b="0" dirty="0" err="1">
                <a:solidFill>
                  <a:srgbClr val="5E5E5D"/>
                </a:solidFill>
              </a:rPr>
              <a:t>BikeCount</a:t>
            </a:r>
            <a:r>
              <a:rPr sz="825" b="0" dirty="0">
                <a:solidFill>
                  <a:srgbClr val="5E5E5D"/>
                </a:solidFill>
              </a:rPr>
              <a:t>).</a:t>
            </a:r>
          </a:p>
        </p:txBody>
      </p:sp>
      <p:sp>
        <p:nvSpPr>
          <p:cNvPr id="28" name="Abgerundetes Rechteck 27">
            <a:extLst>
              <a:ext uri="{FF2B5EF4-FFF2-40B4-BE49-F238E27FC236}">
                <a16:creationId xmlns:a16="http://schemas.microsoft.com/office/drawing/2014/main" id="{75DCFA7E-6BE8-4288-9808-B6BE10339D7E}"/>
              </a:ext>
            </a:extLst>
          </p:cNvPr>
          <p:cNvSpPr>
            <a:spLocks noGrp="1"/>
          </p:cNvSpPr>
          <p:nvPr/>
        </p:nvSpPr>
        <p:spPr>
          <a:xfrm>
            <a:off x="5810250" y="2609850"/>
            <a:ext cx="4876800" cy="323850"/>
          </a:xfrm>
          <a:prstGeom prst="roundRect">
            <a:avLst>
              <a:gd name="adj" fmla="val 9000"/>
            </a:avLst>
          </a:prstGeom>
          <a:solidFill>
            <a:srgbClr val="910830"/>
          </a:solidFill>
          <a:ln w="9525">
            <a:solidFill>
              <a:srgbClr val="9108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5B797DD-430E-459A-BDC6-524335CF2BAF}"/>
              </a:ext>
            </a:extLst>
          </p:cNvPr>
          <p:cNvSpPr>
            <a:spLocks noGrp="1"/>
          </p:cNvSpPr>
          <p:nvPr/>
        </p:nvSpPr>
        <p:spPr>
          <a:xfrm>
            <a:off x="5962650" y="2695575"/>
            <a:ext cx="15240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Rolling CV MSE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C1B9221-1571-4034-8BB2-60244DF492B2}"/>
              </a:ext>
            </a:extLst>
          </p:cNvPr>
          <p:cNvSpPr>
            <a:spLocks noGrp="1"/>
          </p:cNvSpPr>
          <p:nvPr/>
        </p:nvSpPr>
        <p:spPr>
          <a:xfrm>
            <a:off x="8648700" y="2695575"/>
            <a:ext cx="6858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+1h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A6D0B0A-3C88-4943-9811-C3760CCC2110}"/>
              </a:ext>
            </a:extLst>
          </p:cNvPr>
          <p:cNvSpPr>
            <a:spLocks noGrp="1"/>
          </p:cNvSpPr>
          <p:nvPr/>
        </p:nvSpPr>
        <p:spPr>
          <a:xfrm>
            <a:off x="9829800" y="2695575"/>
            <a:ext cx="6858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+24h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AF815EBE-8F56-41D6-A5E9-1A6C9DEA3B6F}"/>
              </a:ext>
            </a:extLst>
          </p:cNvPr>
          <p:cNvSpPr>
            <a:spLocks noGrp="1"/>
          </p:cNvSpPr>
          <p:nvPr/>
        </p:nvSpPr>
        <p:spPr>
          <a:xfrm>
            <a:off x="5810250" y="3009900"/>
            <a:ext cx="487680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98887F4-5B91-4B37-A380-8BF2F83D664D}"/>
              </a:ext>
            </a:extLst>
          </p:cNvPr>
          <p:cNvSpPr>
            <a:spLocks noGrp="1"/>
          </p:cNvSpPr>
          <p:nvPr/>
        </p:nvSpPr>
        <p:spPr>
          <a:xfrm>
            <a:off x="5829300" y="3019425"/>
            <a:ext cx="24765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5E5E5D"/>
                </a:solidFill>
              </a:defRPr>
            </a:pPr>
            <a:r>
              <a:rPr sz="750" b="1">
                <a:solidFill>
                  <a:srgbClr val="5E5E5D"/>
                </a:solidFill>
              </a:rPr>
              <a:t>NAIVE BASELINES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1BD4E967-2793-443D-B691-19986EAAEE81}"/>
              </a:ext>
            </a:extLst>
          </p:cNvPr>
          <p:cNvSpPr>
            <a:spLocks noGrp="1"/>
          </p:cNvSpPr>
          <p:nvPr/>
        </p:nvSpPr>
        <p:spPr>
          <a:xfrm>
            <a:off x="5829300" y="3200400"/>
            <a:ext cx="4857750" cy="9525"/>
          </a:xfrm>
          <a:prstGeom prst="rect">
            <a:avLst/>
          </a:prstGeom>
          <a:solidFill>
            <a:srgbClr val="EEF0F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Abgerundetes Rechteck 34">
            <a:extLst>
              <a:ext uri="{FF2B5EF4-FFF2-40B4-BE49-F238E27FC236}">
                <a16:creationId xmlns:a16="http://schemas.microsoft.com/office/drawing/2014/main" id="{E006BD0F-CF2D-43F5-9635-B953412A8AE3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4E5EC469-5A3F-4488-9162-95BB1DB38939}"/>
              </a:ext>
            </a:extLst>
          </p:cNvPr>
          <p:cNvSpPr>
            <a:spLocks noGrp="1"/>
          </p:cNvSpPr>
          <p:nvPr/>
        </p:nvSpPr>
        <p:spPr>
          <a:xfrm>
            <a:off x="5962650" y="328612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naive horizon lag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B578ED4E-C1C1-4289-AF4E-7F959351B643}"/>
              </a:ext>
            </a:extLst>
          </p:cNvPr>
          <p:cNvSpPr>
            <a:spLocks noGrp="1"/>
          </p:cNvSpPr>
          <p:nvPr/>
        </p:nvSpPr>
        <p:spPr>
          <a:xfrm>
            <a:off x="8648700" y="32861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25,688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EDF5FFB2-AB3B-490F-B122-4BF2DF69C5F9}"/>
              </a:ext>
            </a:extLst>
          </p:cNvPr>
          <p:cNvSpPr>
            <a:spLocks noGrp="1"/>
          </p:cNvSpPr>
          <p:nvPr/>
        </p:nvSpPr>
        <p:spPr>
          <a:xfrm>
            <a:off x="9829800" y="32861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56,681</a:t>
            </a:r>
          </a:p>
        </p:txBody>
      </p:sp>
      <p:sp>
        <p:nvSpPr>
          <p:cNvPr id="39" name="Abgerundetes Rechteck 38">
            <a:extLst>
              <a:ext uri="{FF2B5EF4-FFF2-40B4-BE49-F238E27FC236}">
                <a16:creationId xmlns:a16="http://schemas.microsoft.com/office/drawing/2014/main" id="{BBF25BD9-243A-43E5-BF2B-4E102BF7AC62}"/>
              </a:ext>
            </a:extLst>
          </p:cNvPr>
          <p:cNvSpPr>
            <a:spLocks noGrp="1"/>
          </p:cNvSpPr>
          <p:nvPr/>
        </p:nvSpPr>
        <p:spPr>
          <a:xfrm>
            <a:off x="5810250" y="346710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8F8F8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B208BF44-D35A-4E58-93CC-314E91AE4008}"/>
              </a:ext>
            </a:extLst>
          </p:cNvPr>
          <p:cNvSpPr>
            <a:spLocks noGrp="1"/>
          </p:cNvSpPr>
          <p:nvPr/>
        </p:nvSpPr>
        <p:spPr>
          <a:xfrm>
            <a:off x="5962650" y="351472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naive lag168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00306D0A-B0FF-4882-B9CB-7BDC9D820541}"/>
              </a:ext>
            </a:extLst>
          </p:cNvPr>
          <p:cNvSpPr>
            <a:spLocks noGrp="1"/>
          </p:cNvSpPr>
          <p:nvPr/>
        </p:nvSpPr>
        <p:spPr>
          <a:xfrm>
            <a:off x="8648700" y="35147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22,816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350624EE-1196-47A3-9395-0C1128449670}"/>
              </a:ext>
            </a:extLst>
          </p:cNvPr>
          <p:cNvSpPr>
            <a:spLocks noGrp="1"/>
          </p:cNvSpPr>
          <p:nvPr/>
        </p:nvSpPr>
        <p:spPr>
          <a:xfrm>
            <a:off x="9829800" y="35147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22,816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D1D00AD7-CB76-4309-8900-71C3B7774542}"/>
              </a:ext>
            </a:extLst>
          </p:cNvPr>
          <p:cNvSpPr>
            <a:spLocks noGrp="1"/>
          </p:cNvSpPr>
          <p:nvPr/>
        </p:nvSpPr>
        <p:spPr>
          <a:xfrm>
            <a:off x="5810250" y="3714750"/>
            <a:ext cx="487680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6493C3CB-DD6C-45A6-B2A3-EC514213C9F8}"/>
              </a:ext>
            </a:extLst>
          </p:cNvPr>
          <p:cNvSpPr>
            <a:spLocks noGrp="1"/>
          </p:cNvSpPr>
          <p:nvPr/>
        </p:nvSpPr>
        <p:spPr>
          <a:xfrm>
            <a:off x="5829300" y="3755271"/>
            <a:ext cx="24765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5E5E5D"/>
                </a:solidFill>
              </a:defRPr>
            </a:pPr>
            <a:r>
              <a:rPr sz="750" b="1" dirty="0">
                <a:solidFill>
                  <a:srgbClr val="5E5E5D"/>
                </a:solidFill>
              </a:rPr>
              <a:t>MODEL FAMILY SCREENING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FE8AFDF9-11C8-4601-9E07-49260A1596E2}"/>
              </a:ext>
            </a:extLst>
          </p:cNvPr>
          <p:cNvSpPr>
            <a:spLocks noGrp="1"/>
          </p:cNvSpPr>
          <p:nvPr/>
        </p:nvSpPr>
        <p:spPr>
          <a:xfrm>
            <a:off x="5829300" y="3905250"/>
            <a:ext cx="4857750" cy="9525"/>
          </a:xfrm>
          <a:prstGeom prst="rect">
            <a:avLst/>
          </a:prstGeom>
          <a:solidFill>
            <a:srgbClr val="EEF0F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Abgerundetes Rechteck 45">
            <a:extLst>
              <a:ext uri="{FF2B5EF4-FFF2-40B4-BE49-F238E27FC236}">
                <a16:creationId xmlns:a16="http://schemas.microsoft.com/office/drawing/2014/main" id="{0EE4C150-E50A-47F1-B35A-FB209A6C631B}"/>
              </a:ext>
            </a:extLst>
          </p:cNvPr>
          <p:cNvSpPr>
            <a:spLocks noGrp="1"/>
          </p:cNvSpPr>
          <p:nvPr/>
        </p:nvSpPr>
        <p:spPr>
          <a:xfrm>
            <a:off x="5810250" y="394335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C87D7C97-764D-4275-8833-59FC238BCFEE}"/>
              </a:ext>
            </a:extLst>
          </p:cNvPr>
          <p:cNvSpPr>
            <a:spLocks noGrp="1"/>
          </p:cNvSpPr>
          <p:nvPr/>
        </p:nvSpPr>
        <p:spPr>
          <a:xfrm>
            <a:off x="5962650" y="399097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Ridge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B13EAAFE-7B2A-4351-B115-C6D7E49C17D8}"/>
              </a:ext>
            </a:extLst>
          </p:cNvPr>
          <p:cNvSpPr>
            <a:spLocks noGrp="1"/>
          </p:cNvSpPr>
          <p:nvPr/>
        </p:nvSpPr>
        <p:spPr>
          <a:xfrm>
            <a:off x="8648700" y="39909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10,803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ACD9C67C-B7AC-462C-9F88-6DD4DA4EF8B3}"/>
              </a:ext>
            </a:extLst>
          </p:cNvPr>
          <p:cNvSpPr>
            <a:spLocks noGrp="1"/>
          </p:cNvSpPr>
          <p:nvPr/>
        </p:nvSpPr>
        <p:spPr>
          <a:xfrm>
            <a:off x="9829800" y="39909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19,096</a:t>
            </a:r>
          </a:p>
        </p:txBody>
      </p:sp>
      <p:sp>
        <p:nvSpPr>
          <p:cNvPr id="50" name="Abgerundetes Rechteck 49">
            <a:extLst>
              <a:ext uri="{FF2B5EF4-FFF2-40B4-BE49-F238E27FC236}">
                <a16:creationId xmlns:a16="http://schemas.microsoft.com/office/drawing/2014/main" id="{4E08681F-AFE4-4D53-A2B8-07B42DA3C66B}"/>
              </a:ext>
            </a:extLst>
          </p:cNvPr>
          <p:cNvSpPr>
            <a:spLocks noGrp="1"/>
          </p:cNvSpPr>
          <p:nvPr/>
        </p:nvSpPr>
        <p:spPr>
          <a:xfrm>
            <a:off x="5810250" y="417195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8F8F8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4F7A1FE7-61AB-4143-A360-955347819AB5}"/>
              </a:ext>
            </a:extLst>
          </p:cNvPr>
          <p:cNvSpPr>
            <a:spLocks noGrp="1"/>
          </p:cNvSpPr>
          <p:nvPr/>
        </p:nvSpPr>
        <p:spPr>
          <a:xfrm>
            <a:off x="5962650" y="421957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RandomForest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62C3BE25-AA71-4ED0-942C-FB6941F4DEC5}"/>
              </a:ext>
            </a:extLst>
          </p:cNvPr>
          <p:cNvSpPr>
            <a:spLocks noGrp="1"/>
          </p:cNvSpPr>
          <p:nvPr/>
        </p:nvSpPr>
        <p:spPr>
          <a:xfrm>
            <a:off x="8648700" y="42195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5,263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52F492F5-3065-4E32-AB08-990C46D00FC4}"/>
              </a:ext>
            </a:extLst>
          </p:cNvPr>
          <p:cNvSpPr>
            <a:spLocks noGrp="1"/>
          </p:cNvSpPr>
          <p:nvPr/>
        </p:nvSpPr>
        <p:spPr>
          <a:xfrm>
            <a:off x="9829800" y="42195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14,681</a:t>
            </a:r>
          </a:p>
        </p:txBody>
      </p:sp>
      <p:sp>
        <p:nvSpPr>
          <p:cNvPr id="54" name="Abgerundetes Rechteck 53">
            <a:extLst>
              <a:ext uri="{FF2B5EF4-FFF2-40B4-BE49-F238E27FC236}">
                <a16:creationId xmlns:a16="http://schemas.microsoft.com/office/drawing/2014/main" id="{0AB0D871-9A58-48FA-83F5-E5A2DC353392}"/>
              </a:ext>
            </a:extLst>
          </p:cNvPr>
          <p:cNvSpPr>
            <a:spLocks noGrp="1"/>
          </p:cNvSpPr>
          <p:nvPr/>
        </p:nvSpPr>
        <p:spPr>
          <a:xfrm>
            <a:off x="5810250" y="440055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AEA37410-29E2-479C-9F50-31BC64C45413}"/>
              </a:ext>
            </a:extLst>
          </p:cNvPr>
          <p:cNvSpPr>
            <a:spLocks noGrp="1"/>
          </p:cNvSpPr>
          <p:nvPr/>
        </p:nvSpPr>
        <p:spPr>
          <a:xfrm>
            <a:off x="5962650" y="444817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MLP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B02F1BCF-AFFD-4DD7-BAD2-C086D13123B8}"/>
              </a:ext>
            </a:extLst>
          </p:cNvPr>
          <p:cNvSpPr>
            <a:spLocks noGrp="1"/>
          </p:cNvSpPr>
          <p:nvPr/>
        </p:nvSpPr>
        <p:spPr>
          <a:xfrm>
            <a:off x="8648700" y="44481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7,657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D78F13AD-4158-4BEB-9598-29082B1FF199}"/>
              </a:ext>
            </a:extLst>
          </p:cNvPr>
          <p:cNvSpPr>
            <a:spLocks noGrp="1"/>
          </p:cNvSpPr>
          <p:nvPr/>
        </p:nvSpPr>
        <p:spPr>
          <a:xfrm>
            <a:off x="9829800" y="44481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22,316</a:t>
            </a:r>
          </a:p>
        </p:txBody>
      </p:sp>
      <p:sp>
        <p:nvSpPr>
          <p:cNvPr id="58" name="Abgerundetes Rechteck 57">
            <a:extLst>
              <a:ext uri="{FF2B5EF4-FFF2-40B4-BE49-F238E27FC236}">
                <a16:creationId xmlns:a16="http://schemas.microsoft.com/office/drawing/2014/main" id="{1D70A64E-7283-4C4C-8723-158917D8609B}"/>
              </a:ext>
            </a:extLst>
          </p:cNvPr>
          <p:cNvSpPr>
            <a:spLocks noGrp="1"/>
          </p:cNvSpPr>
          <p:nvPr/>
        </p:nvSpPr>
        <p:spPr>
          <a:xfrm>
            <a:off x="5810250" y="462915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8F8F8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22C7D5FF-00AE-40BC-9BA0-DFE40589324B}"/>
              </a:ext>
            </a:extLst>
          </p:cNvPr>
          <p:cNvSpPr>
            <a:spLocks noGrp="1"/>
          </p:cNvSpPr>
          <p:nvPr/>
        </p:nvSpPr>
        <p:spPr>
          <a:xfrm>
            <a:off x="5962650" y="467677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XGBoost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2AC3EE94-9F46-4CDA-AE21-4330BFE92E03}"/>
              </a:ext>
            </a:extLst>
          </p:cNvPr>
          <p:cNvSpPr>
            <a:spLocks noGrp="1"/>
          </p:cNvSpPr>
          <p:nvPr/>
        </p:nvSpPr>
        <p:spPr>
          <a:xfrm>
            <a:off x="8648700" y="46767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4,459</a:t>
            </a:r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73FDE3B9-DFA9-4506-8190-414D8D4AFB58}"/>
              </a:ext>
            </a:extLst>
          </p:cNvPr>
          <p:cNvSpPr>
            <a:spLocks noGrp="1"/>
          </p:cNvSpPr>
          <p:nvPr/>
        </p:nvSpPr>
        <p:spPr>
          <a:xfrm>
            <a:off x="9829800" y="467677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14,583</a:t>
            </a:r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C8E61289-F602-4F4A-A2ED-BEC5E1E5F7CB}"/>
              </a:ext>
            </a:extLst>
          </p:cNvPr>
          <p:cNvSpPr>
            <a:spLocks noGrp="1"/>
          </p:cNvSpPr>
          <p:nvPr/>
        </p:nvSpPr>
        <p:spPr>
          <a:xfrm>
            <a:off x="5810250" y="4838700"/>
            <a:ext cx="487680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6B8370B3-FEAA-439F-8D2A-0DFD6D0FB6C1}"/>
              </a:ext>
            </a:extLst>
          </p:cNvPr>
          <p:cNvSpPr>
            <a:spLocks noGrp="1"/>
          </p:cNvSpPr>
          <p:nvPr/>
        </p:nvSpPr>
        <p:spPr>
          <a:xfrm>
            <a:off x="5829300" y="4894719"/>
            <a:ext cx="2476500" cy="17145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1">
                <a:solidFill>
                  <a:srgbClr val="5E5E5D"/>
                </a:solidFill>
              </a:defRPr>
            </a:pPr>
            <a:r>
              <a:rPr sz="750" b="1" dirty="0">
                <a:solidFill>
                  <a:srgbClr val="5E5E5D"/>
                </a:solidFill>
              </a:rPr>
              <a:t>XGBOOST REFINEMENT</a:t>
            </a:r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E50C9CB2-0885-4B5B-B0AA-A62B89F04E77}"/>
              </a:ext>
            </a:extLst>
          </p:cNvPr>
          <p:cNvSpPr>
            <a:spLocks noGrp="1"/>
          </p:cNvSpPr>
          <p:nvPr/>
        </p:nvSpPr>
        <p:spPr>
          <a:xfrm>
            <a:off x="5829300" y="5029200"/>
            <a:ext cx="4857750" cy="9525"/>
          </a:xfrm>
          <a:prstGeom prst="rect">
            <a:avLst/>
          </a:prstGeom>
          <a:solidFill>
            <a:srgbClr val="EEF0F2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Abgerundetes Rechteck 64">
            <a:extLst>
              <a:ext uri="{FF2B5EF4-FFF2-40B4-BE49-F238E27FC236}">
                <a16:creationId xmlns:a16="http://schemas.microsoft.com/office/drawing/2014/main" id="{AE750D67-C82F-4224-9151-BBDB681E7518}"/>
              </a:ext>
            </a:extLst>
          </p:cNvPr>
          <p:cNvSpPr>
            <a:spLocks noGrp="1"/>
          </p:cNvSpPr>
          <p:nvPr/>
        </p:nvSpPr>
        <p:spPr>
          <a:xfrm>
            <a:off x="5810250" y="506730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B93235BE-BE06-4230-8678-3DC4AD9EDF1B}"/>
              </a:ext>
            </a:extLst>
          </p:cNvPr>
          <p:cNvSpPr>
            <a:spLocks noGrp="1"/>
          </p:cNvSpPr>
          <p:nvPr/>
        </p:nvSpPr>
        <p:spPr>
          <a:xfrm>
            <a:off x="5962650" y="511492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XGBoost log1p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96C18DE9-B18B-4708-A0F0-9AEC72F4067C}"/>
              </a:ext>
            </a:extLst>
          </p:cNvPr>
          <p:cNvSpPr>
            <a:spLocks noGrp="1"/>
          </p:cNvSpPr>
          <p:nvPr/>
        </p:nvSpPr>
        <p:spPr>
          <a:xfrm>
            <a:off x="8648700" y="51149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4,652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28CA85A2-1181-4F5E-9BD7-EF38AE8E269E}"/>
              </a:ext>
            </a:extLst>
          </p:cNvPr>
          <p:cNvSpPr>
            <a:spLocks noGrp="1"/>
          </p:cNvSpPr>
          <p:nvPr/>
        </p:nvSpPr>
        <p:spPr>
          <a:xfrm>
            <a:off x="9829800" y="51149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19,569</a:t>
            </a:r>
          </a:p>
        </p:txBody>
      </p:sp>
      <p:sp>
        <p:nvSpPr>
          <p:cNvPr id="69" name="Abgerundetes Rechteck 68">
            <a:extLst>
              <a:ext uri="{FF2B5EF4-FFF2-40B4-BE49-F238E27FC236}">
                <a16:creationId xmlns:a16="http://schemas.microsoft.com/office/drawing/2014/main" id="{04D3547A-341A-4F8F-BA07-A36EC650A1E0}"/>
              </a:ext>
            </a:extLst>
          </p:cNvPr>
          <p:cNvSpPr>
            <a:spLocks noGrp="1"/>
          </p:cNvSpPr>
          <p:nvPr/>
        </p:nvSpPr>
        <p:spPr>
          <a:xfrm>
            <a:off x="5810250" y="529590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8F8F8"/>
          </a:solidFill>
          <a:ln w="5715">
            <a:solidFill>
              <a:srgbClr val="EEF0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37302212-DA34-4ADC-8D98-08494A0C3C02}"/>
              </a:ext>
            </a:extLst>
          </p:cNvPr>
          <p:cNvSpPr>
            <a:spLocks noGrp="1"/>
          </p:cNvSpPr>
          <p:nvPr/>
        </p:nvSpPr>
        <p:spPr>
          <a:xfrm>
            <a:off x="5962650" y="534352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XGBoost tuned log1p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B365DEA5-53DA-47A4-B421-B37FBC747BB4}"/>
              </a:ext>
            </a:extLst>
          </p:cNvPr>
          <p:cNvSpPr>
            <a:spLocks noGrp="1"/>
          </p:cNvSpPr>
          <p:nvPr/>
        </p:nvSpPr>
        <p:spPr>
          <a:xfrm>
            <a:off x="8648700" y="53435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4,686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188CE4C7-F3D0-4E7E-8570-74C6C502A8BD}"/>
              </a:ext>
            </a:extLst>
          </p:cNvPr>
          <p:cNvSpPr>
            <a:spLocks noGrp="1"/>
          </p:cNvSpPr>
          <p:nvPr/>
        </p:nvSpPr>
        <p:spPr>
          <a:xfrm>
            <a:off x="9829800" y="53435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0">
                <a:solidFill>
                  <a:srgbClr val="1F252B"/>
                </a:solidFill>
              </a:defRPr>
            </a:pPr>
            <a:r>
              <a:rPr sz="713" b="0">
                <a:solidFill>
                  <a:srgbClr val="1F252B"/>
                </a:solidFill>
              </a:rPr>
              <a:t>16,534</a:t>
            </a:r>
          </a:p>
        </p:txBody>
      </p:sp>
      <p:sp>
        <p:nvSpPr>
          <p:cNvPr id="73" name="Abgerundetes Rechteck 72">
            <a:extLst>
              <a:ext uri="{FF2B5EF4-FFF2-40B4-BE49-F238E27FC236}">
                <a16:creationId xmlns:a16="http://schemas.microsoft.com/office/drawing/2014/main" id="{D0293333-4FBB-4883-B852-CE378F997BC6}"/>
              </a:ext>
            </a:extLst>
          </p:cNvPr>
          <p:cNvSpPr>
            <a:spLocks noGrp="1"/>
          </p:cNvSpPr>
          <p:nvPr/>
        </p:nvSpPr>
        <p:spPr>
          <a:xfrm>
            <a:off x="5810250" y="5524500"/>
            <a:ext cx="4876800" cy="228600"/>
          </a:xfrm>
          <a:prstGeom prst="roundRect">
            <a:avLst>
              <a:gd name="adj" fmla="val 9000"/>
            </a:avLst>
          </a:prstGeom>
          <a:solidFill>
            <a:srgbClr val="F4E6EB"/>
          </a:solidFill>
          <a:ln w="13335">
            <a:solidFill>
              <a:srgbClr val="9108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4D612161-9484-4CB9-BF3A-104471F38228}"/>
              </a:ext>
            </a:extLst>
          </p:cNvPr>
          <p:cNvSpPr>
            <a:spLocks noGrp="1"/>
          </p:cNvSpPr>
          <p:nvPr/>
        </p:nvSpPr>
        <p:spPr>
          <a:xfrm>
            <a:off x="5962650" y="5572125"/>
            <a:ext cx="20955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713" b="1">
                <a:solidFill>
                  <a:srgbClr val="910830"/>
                </a:solidFill>
              </a:defRPr>
            </a:pPr>
            <a:r>
              <a:rPr sz="713" b="1">
                <a:solidFill>
                  <a:srgbClr val="910830"/>
                </a:solidFill>
              </a:rPr>
              <a:t>XGBoost tuned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0EF4CABE-CF69-4504-9C1C-E37588028EC7}"/>
              </a:ext>
            </a:extLst>
          </p:cNvPr>
          <p:cNvSpPr>
            <a:spLocks noGrp="1"/>
          </p:cNvSpPr>
          <p:nvPr/>
        </p:nvSpPr>
        <p:spPr>
          <a:xfrm>
            <a:off x="8648700" y="55721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910830"/>
                </a:solidFill>
              </a:defRPr>
            </a:pPr>
            <a:r>
              <a:rPr sz="713" b="1">
                <a:solidFill>
                  <a:srgbClr val="910830"/>
                </a:solidFill>
              </a:rPr>
              <a:t>4,370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F9863886-8C82-456C-9609-F4DF2882538E}"/>
              </a:ext>
            </a:extLst>
          </p:cNvPr>
          <p:cNvSpPr>
            <a:spLocks noGrp="1"/>
          </p:cNvSpPr>
          <p:nvPr/>
        </p:nvSpPr>
        <p:spPr>
          <a:xfrm>
            <a:off x="9829800" y="5572125"/>
            <a:ext cx="685800" cy="142875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713" b="1">
                <a:solidFill>
                  <a:srgbClr val="910830"/>
                </a:solidFill>
              </a:defRPr>
            </a:pPr>
            <a:r>
              <a:rPr sz="713" b="1">
                <a:solidFill>
                  <a:srgbClr val="910830"/>
                </a:solidFill>
              </a:rPr>
              <a:t>13,890</a:t>
            </a:r>
          </a:p>
        </p:txBody>
      </p:sp>
      <p:sp>
        <p:nvSpPr>
          <p:cNvPr id="77" name="Abgerundetes Rechteck 76">
            <a:extLst>
              <a:ext uri="{FF2B5EF4-FFF2-40B4-BE49-F238E27FC236}">
                <a16:creationId xmlns:a16="http://schemas.microsoft.com/office/drawing/2014/main" id="{506114CA-FB81-498F-A5B5-6521370BBE03}"/>
              </a:ext>
            </a:extLst>
          </p:cNvPr>
          <p:cNvSpPr>
            <a:spLocks noGrp="1"/>
          </p:cNvSpPr>
          <p:nvPr/>
        </p:nvSpPr>
        <p:spPr>
          <a:xfrm>
            <a:off x="838200" y="5829300"/>
            <a:ext cx="9848850" cy="457200"/>
          </a:xfrm>
          <a:prstGeom prst="roundRect">
            <a:avLst>
              <a:gd name="adj" fmla="val 9000"/>
            </a:avLst>
          </a:prstGeom>
          <a:solidFill>
            <a:srgbClr val="F4E6EB"/>
          </a:solidFill>
          <a:ln w="11430">
            <a:solidFill>
              <a:srgbClr val="9108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F599DAF4-91D6-42D9-9D3D-A424BC80938E}"/>
              </a:ext>
            </a:extLst>
          </p:cNvPr>
          <p:cNvSpPr>
            <a:spLocks noGrp="1"/>
          </p:cNvSpPr>
          <p:nvPr/>
        </p:nvSpPr>
        <p:spPr>
          <a:xfrm>
            <a:off x="1047750" y="5962650"/>
            <a:ext cx="1066800" cy="1905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910830"/>
                </a:solidFill>
              </a:defRPr>
            </a:pPr>
            <a:r>
              <a:rPr sz="1125" b="1">
                <a:solidFill>
                  <a:srgbClr val="910830"/>
                </a:solidFill>
              </a:rPr>
              <a:t>Takeaway</a:t>
            </a:r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5285CF43-641F-4704-9FF6-EA6A92AEF459}"/>
              </a:ext>
            </a:extLst>
          </p:cNvPr>
          <p:cNvSpPr>
            <a:spLocks noGrp="1"/>
          </p:cNvSpPr>
          <p:nvPr/>
        </p:nvSpPr>
        <p:spPr>
          <a:xfrm>
            <a:off x="2152650" y="5953125"/>
            <a:ext cx="8343900" cy="228600"/>
          </a:xfrm>
          <a:prstGeom prst="rect">
            <a:avLst/>
          </a:prstGeom>
          <a:solidFill>
            <a:srgbClr val="FFFFFF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75" b="1">
                <a:solidFill>
                  <a:srgbClr val="1F252B"/>
                </a:solidFill>
              </a:defRPr>
            </a:pPr>
            <a:r>
              <a:rPr sz="975" b="1" dirty="0">
                <a:solidFill>
                  <a:srgbClr val="1F252B"/>
                </a:solidFill>
              </a:rPr>
              <a:t>Boosted trees fit this tabular time-series task best; </a:t>
            </a:r>
            <a:r>
              <a:rPr sz="975" b="1" dirty="0" err="1">
                <a:solidFill>
                  <a:srgbClr val="1F252B"/>
                </a:solidFill>
              </a:rPr>
              <a:t>XGBoost</a:t>
            </a:r>
            <a:r>
              <a:rPr sz="975" b="1" dirty="0">
                <a:solidFill>
                  <a:srgbClr val="1F252B"/>
                </a:solidFill>
              </a:rPr>
              <a:t> tuned achieves the lowest rolling validation error on both horizons.</a:t>
            </a:r>
          </a:p>
        </p:txBody>
      </p:sp>
    </p:spTree>
    <p:extLst>
      <p:ext uri="{BB962C8B-B14F-4D97-AF65-F5344CB8AC3E}">
        <p14:creationId xmlns:p14="http://schemas.microsoft.com/office/powerpoint/2010/main" val="841726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433</Words>
  <Application>Microsoft Macintosh PowerPoint</Application>
  <DocSecurity>0</DocSecurity>
  <PresentationFormat>Breitbild</PresentationFormat>
  <Paragraphs>88</Paragraphs>
  <Slides>2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4" baseType="lpstr">
      <vt:lpstr>Aptos</vt:lpstr>
      <vt:lpstr>Office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Yannick Wenger</cp:lastModifiedBy>
  <cp:revision>2</cp:revision>
  <dcterms:created xsi:type="dcterms:W3CDTF">2026-06-02T17:44:28Z</dcterms:created>
  <dcterms:modified xsi:type="dcterms:W3CDTF">2026-06-02T18:45:08Z</dcterms:modified>
</cp:coreProperties>
</file>